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8"/>
  </p:handoutMasterIdLst>
  <p:sldIdLst>
    <p:sldId id="807" r:id="rId4"/>
    <p:sldId id="852" r:id="rId6"/>
    <p:sldId id="669" r:id="rId7"/>
  </p:sldIdLst>
  <p:sldSz cx="12192000" cy="6858000"/>
  <p:notesSz cx="6805295" cy="993902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9" userDrawn="1">
          <p15:clr>
            <a:srgbClr val="A4A3A4"/>
          </p15:clr>
        </p15:guide>
        <p15:guide id="2" pos="7129" userDrawn="1">
          <p15:clr>
            <a:srgbClr val="A4A3A4"/>
          </p15:clr>
        </p15:guide>
        <p15:guide id="3" orient="horz" pos="463" userDrawn="1">
          <p15:clr>
            <a:srgbClr val="A4A3A4"/>
          </p15:clr>
        </p15:guide>
        <p15:guide id="4" orient="horz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CBCCSI" initials="I" lastIdx="6" clrIdx="0"/>
  <p:cmAuthor id="1" name="Administrator" initials="A" lastIdx="1" clrIdx="1"/>
  <p:cmAuthor id="2" name="尹珂嘉" initials="尹珂嘉" lastIdx="1" clrIdx="19"/>
  <p:cmAuthor id="3" name="gyrx-gaows" initials="g" lastIdx="2" clrIdx="2"/>
  <p:cmAuthor id="4" name="饶秀秀" initials="饶秀秀" lastIdx="9" clrIdx="3"/>
  <p:cmAuthor id="5" name="宋倩楠" initials="宋倩楠" lastIdx="34" clrIdx="4"/>
  <p:cmAuthor id="6" name="卢雨晴" initials="卢雨晴" lastIdx="12" clrIdx="5"/>
  <p:cmAuthor id="7" name="吕青芝" initials="吕青芝" lastIdx="60" clrIdx="6"/>
  <p:cmAuthor id="8" name="何金刚" initials="何金刚" lastIdx="11" clrIdx="7"/>
  <p:cmAuthor id="9" name="尚丽欣" initials="尚丽欣" lastIdx="6" clrIdx="8"/>
  <p:cmAuthor id="10" name="谢誉凡" initials="谢誉凡" lastIdx="13" clrIdx="10"/>
  <p:cmAuthor id="12" name="郑洁" initials="郑洁" lastIdx="35" clrIdx="1"/>
  <p:cmAuthor id="15" name="王斌" initials="尚丽欣" lastIdx="48" clrIdx="2"/>
  <p:cmAuthor id="16" name="gyrx-wangy" initials="g" lastIdx="2" clrIdx="15"/>
  <p:cmAuthor id="18" name="姜卓" initials="姜卓" lastIdx="16" clrIdx="5"/>
  <p:cmAuthor id="19" name="杨兴颖" initials="无" lastIdx="186" clrIdx="16"/>
  <p:cmAuthor id="20" name="辛华" initials="辛华" lastIdx="7" clrIdx="18"/>
  <p:cmAuthor id="21" name="孟博" initials="孟博" lastIdx="2" clrIdx="17"/>
  <p:cmAuthor id="22" name="辛璐" initials="辛璐" lastIdx="4" clrIdx="20"/>
  <p:cmAuthor id="23" name="栗开元" initials="lky" lastIdx="1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767171"/>
    <a:srgbClr val="F0F0F0"/>
    <a:srgbClr val="F2F2F2"/>
    <a:srgbClr val="000000"/>
    <a:srgbClr val="EE7632"/>
    <a:srgbClr val="D22931"/>
    <a:srgbClr val="C00000"/>
    <a:srgbClr val="251A1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737" autoAdjust="0"/>
  </p:normalViewPr>
  <p:slideViewPr>
    <p:cSldViewPr snapToGrid="0" showGuides="1">
      <p:cViewPr>
        <p:scale>
          <a:sx n="100" d="100"/>
          <a:sy n="100" d="100"/>
        </p:scale>
        <p:origin x="1440" y="510"/>
      </p:cViewPr>
      <p:guideLst>
        <p:guide pos="559"/>
        <p:guide pos="7129"/>
        <p:guide orient="horz" pos="463"/>
        <p:guide orient="horz" pos="384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6336"/>
    </p:cViewPr>
  </p:sorterViewPr>
  <p:notesViewPr>
    <p:cSldViewPr snapToGrid="0">
      <p:cViewPr varScale="1">
        <p:scale>
          <a:sx n="76" d="100"/>
          <a:sy n="76" d="100"/>
        </p:scale>
        <p:origin x="3222" y="9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0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767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767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247" y="1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04" tIns="44152" rIns="88304" bIns="4415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1322" y="4783895"/>
            <a:ext cx="5444490" cy="3912834"/>
          </a:xfrm>
          <a:prstGeom prst="rect">
            <a:avLst/>
          </a:prstGeom>
        </p:spPr>
        <p:txBody>
          <a:bodyPr vert="horz" lIns="88304" tIns="44152" rIns="88304" bIns="44152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1369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247" y="9441369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113713" y="430213"/>
            <a:ext cx="2062162" cy="11604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3285">
              <a:defRPr/>
            </a:pPr>
            <a:fld id="{E2E3AE05-7DD1-4AF0-924E-BEEA496F3737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620" y="1274445"/>
            <a:ext cx="4095750" cy="4095750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838199" y="2159953"/>
            <a:ext cx="2324735" cy="2324735"/>
          </a:xfrm>
          <a:prstGeom prst="ellipse">
            <a:avLst/>
          </a:prstGeom>
          <a:solidFill>
            <a:schemeClr val="bg1">
              <a:alpha val="86000"/>
            </a:schemeClr>
          </a:solidFill>
          <a:effectLst>
            <a:outerShdw blurRad="368300" dist="38100" dir="2700000" sx="104000" sy="104000" algn="tl" rotWithShape="0">
              <a:srgbClr val="154481">
                <a:alpha val="15000"/>
              </a:srgb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9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rgbClr val="99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联合logo标准版"/>
          <p:cNvPicPr>
            <a:picLocks noChangeAspect="1"/>
          </p:cNvPicPr>
          <p:nvPr userDrawn="1"/>
        </p:nvPicPr>
        <p:blipFill>
          <a:blip r:embed="rId3"/>
          <a:srcRect l="6478" t="22548" r="4274" b="27631"/>
          <a:stretch>
            <a:fillRect/>
          </a:stretch>
        </p:blipFill>
        <p:spPr>
          <a:xfrm>
            <a:off x="331470" y="187325"/>
            <a:ext cx="4218940" cy="7327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245534" y="736283"/>
            <a:ext cx="117009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106954" y="374287"/>
            <a:ext cx="642938" cy="95249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48" y="108088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10"/>
          </p:nvPr>
        </p:nvSpPr>
        <p:spPr>
          <a:xfrm>
            <a:off x="11460479" y="6336804"/>
            <a:ext cx="596399" cy="366936"/>
          </a:xfrm>
          <a:prstGeom prst="rect">
            <a:avLst/>
          </a:prstGeom>
        </p:spPr>
        <p:txBody>
          <a:bodyPr anchor="ctr"/>
          <a:lstStyle>
            <a:lvl1pPr algn="r">
              <a:defRPr sz="120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Arial" panose="020B0604020202090204" pitchFamily="34" charset="0"/>
              </a:defRPr>
            </a:lvl1pPr>
          </a:lstStyle>
          <a:p>
            <a:fld id="{A0E155EB-C51F-4C96-BAE0-0E3CFD4553C9}" type="slidenum">
              <a:rPr lang="en-US" smtClean="0"/>
            </a:fld>
            <a:endParaRPr lang="en-US" dirty="0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9105900" y="154260"/>
            <a:ext cx="3086100" cy="535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048576" y="624125"/>
            <a:ext cx="986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754112" y="261683"/>
            <a:ext cx="588928" cy="87248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6128" y="0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8779715" y="10844"/>
            <a:ext cx="3487757" cy="604975"/>
          </a:xfrm>
          <a:prstGeom prst="rect">
            <a:avLst/>
          </a:prstGeom>
        </p:spPr>
      </p:pic>
      <p:sp>
        <p:nvSpPr>
          <p:cNvPr id="15" name="灯片编号占位符 4"/>
          <p:cNvSpPr txBox="1"/>
          <p:nvPr userDrawn="1"/>
        </p:nvSpPr>
        <p:spPr>
          <a:xfrm>
            <a:off x="4724400" y="64919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210925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10925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 userDrawn="1"/>
        </p:nvGraphicFramePr>
        <p:xfrm>
          <a:off x="-2165351" y="0"/>
          <a:ext cx="207645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/>
                <a:gridCol w="529551"/>
                <a:gridCol w="422624"/>
                <a:gridCol w="476576"/>
              </a:tblGrid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大标题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R:199 G:0 B:11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000B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楷体_GB2312" panose="02010609030101010101" pitchFamily="49" charset="-122"/>
                          <a:ea typeface="楷体_GB2312" panose="02010609030101010101" pitchFamily="49" charset="-122"/>
                          <a:cs typeface="Source Han Sans CN" panose="020B0A00000000000000" charset="-122"/>
                          <a:sym typeface="+mn-ea"/>
                        </a:rPr>
                        <a:t>副标题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关键内容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R:162 G:15 B:17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F11"/>
                    </a:solidFill>
                  </a:tcPr>
                </a:tc>
              </a:tr>
              <a:tr h="1562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注释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R:102 G:102 B:102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5861613" y="-164483"/>
            <a:ext cx="6270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 w="3175">
                  <a:gradFill>
                    <a:gsLst>
                      <a:gs pos="0">
                        <a:prstClr val="white">
                          <a:lumMod val="85000"/>
                          <a:alpha val="50000"/>
                        </a:prstClr>
                      </a:gs>
                      <a:gs pos="100000">
                        <a:prstClr val="white">
                          <a:lumMod val="85000"/>
                          <a:alpha val="0"/>
                        </a:prst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prstClr val="white">
                        <a:lumMod val="95000"/>
                        <a:alpha val="33000"/>
                      </a:prstClr>
                    </a:gs>
                    <a:gs pos="65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ICBCCS</a:t>
            </a:r>
            <a:endParaRPr kumimoji="0" lang="zh-CN" altLang="en-US" sz="9600" b="1" i="0" u="none" strike="noStrike" kern="1200" cap="none" spc="0" normalizeH="0" baseline="0" noProof="0" dirty="0">
              <a:ln w="3175">
                <a:gradFill>
                  <a:gsLst>
                    <a:gs pos="0">
                      <a:prstClr val="white">
                        <a:lumMod val="85000"/>
                        <a:alpha val="50000"/>
                      </a:prstClr>
                    </a:gs>
                    <a:gs pos="100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</a:ln>
              <a:gradFill>
                <a:gsLst>
                  <a:gs pos="0">
                    <a:prstClr val="white">
                      <a:lumMod val="95000"/>
                      <a:alpha val="33000"/>
                    </a:prstClr>
                  </a:gs>
                  <a:gs pos="65000">
                    <a:prstClr val="white">
                      <a:lumMod val="85000"/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 bwMode="auto">
          <a:xfrm>
            <a:off x="0" y="6715125"/>
            <a:ext cx="12192000" cy="148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4C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85440" y="293025"/>
            <a:ext cx="8716056" cy="434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7845" y="11360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2800" dirty="0">
                <a:sym typeface="+mn-ea"/>
              </a:rPr>
              <a:t>单击此处编辑母版文本样式</a:t>
            </a:r>
            <a:endParaRPr lang="zh-CN" altLang="en-US" sz="2800" dirty="0"/>
          </a:p>
          <a:p>
            <a:pPr lvl="1"/>
            <a:r>
              <a:rPr lang="zh-CN" altLang="en-US" sz="2800" dirty="0">
                <a:sym typeface="+mn-ea"/>
              </a:rPr>
              <a:t>第二级</a:t>
            </a:r>
            <a:endParaRPr lang="zh-CN" altLang="en-US" sz="2800" dirty="0"/>
          </a:p>
          <a:p>
            <a:pPr lvl="2"/>
            <a:r>
              <a:rPr lang="zh-CN" altLang="en-US" sz="2800" dirty="0">
                <a:sym typeface="+mn-ea"/>
              </a:rPr>
              <a:t>第三级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882084" y="6715125"/>
            <a:ext cx="1865416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29650" y="6715125"/>
            <a:ext cx="1222072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EC7F1D-91E8-4A6E-93E1-908A3D6BAE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800100"/>
            <a:ext cx="12192000" cy="804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" y="266701"/>
            <a:ext cx="119063" cy="473868"/>
          </a:xfrm>
          <a:prstGeom prst="rect">
            <a:avLst/>
          </a:prstGeom>
          <a:solidFill>
            <a:srgbClr val="10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54780" y="266701"/>
            <a:ext cx="52389" cy="473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1"/>
          <a:srcRect l="6478" t="22548" r="4274" b="27631"/>
          <a:stretch>
            <a:fillRect/>
          </a:stretch>
        </p:blipFill>
        <p:spPr>
          <a:xfrm>
            <a:off x="8334375" y="181610"/>
            <a:ext cx="3526790" cy="6121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E4078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702-工银19周年ppt背板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6550" y="2422525"/>
            <a:ext cx="115182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标题</a:t>
            </a:r>
            <a:r>
              <a:rPr lang="en-US" altLang="zh-CN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4400" b="1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22875" y="4664075"/>
            <a:ext cx="17265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日期</a:t>
            </a:r>
            <a:r>
              <a:rPr lang="en-US" altLang="zh-CN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22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94925" y="6265545"/>
            <a:ext cx="139700" cy="244475"/>
          </a:xfrm>
          <a:prstGeom prst="rect">
            <a:avLst/>
          </a:prstGeom>
          <a:solidFill>
            <a:srgbClr val="C7000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6132" y="3429317"/>
            <a:ext cx="9816861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作者</a:t>
            </a:r>
            <a:r>
              <a:rPr lang="en-US" altLang="zh-CN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26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4691236" y="2324936"/>
            <a:ext cx="5662718" cy="553998"/>
            <a:chOff x="4230011" y="1632599"/>
            <a:chExt cx="5662718" cy="553998"/>
          </a:xfrm>
        </p:grpSpPr>
        <p:sp>
          <p:nvSpPr>
            <p:cNvPr id="13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5104729" y="1632599"/>
              <a:ext cx="478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rgbClr val="990000"/>
                  </a:solidFill>
                  <a:cs typeface="+mn-ea"/>
                  <a:sym typeface="+mn-lt"/>
                </a:rPr>
                <a:t>{</a:t>
              </a:r>
              <a:r>
                <a:rPr lang="zh-CN" altLang="en-US" sz="3000" b="1" dirty="0">
                  <a:solidFill>
                    <a:srgbClr val="990000"/>
                  </a:solidFill>
                  <a:cs typeface="+mn-ea"/>
                  <a:sym typeface="+mn-lt"/>
                </a:rPr>
                <a:t>标题</a:t>
              </a:r>
              <a:r>
                <a:rPr lang="en-US" altLang="zh-CN" sz="3000" b="1" dirty="0">
                  <a:solidFill>
                    <a:srgbClr val="990000"/>
                  </a:solidFill>
                  <a:cs typeface="+mn-ea"/>
                  <a:sym typeface="+mn-lt"/>
                </a:rPr>
                <a:t>1}</a:t>
              </a:r>
              <a:endParaRPr lang="zh-CN" altLang="en-US" sz="3000" b="1" dirty="0">
                <a:solidFill>
                  <a:srgbClr val="990000"/>
                </a:solidFill>
                <a:cs typeface="+mn-ea"/>
                <a:sym typeface="+mn-lt"/>
              </a:endParaRPr>
            </a:p>
          </p:txBody>
        </p:sp>
        <p:sp>
          <p:nvSpPr>
            <p:cNvPr id="14" name="箭头: 五边形 53"/>
            <p:cNvSpPr/>
            <p:nvPr>
              <p:custDataLst>
                <p:tags r:id="rId3"/>
              </p:custDataLst>
            </p:nvPr>
          </p:nvSpPr>
          <p:spPr>
            <a:xfrm>
              <a:off x="4230011" y="1632599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990000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4691236" y="3241619"/>
            <a:ext cx="5842718" cy="553998"/>
            <a:chOff x="4230011" y="2671657"/>
            <a:chExt cx="5842718" cy="553998"/>
          </a:xfrm>
        </p:grpSpPr>
        <p:sp>
          <p:nvSpPr>
            <p:cNvPr id="18" name="文本框 17"/>
            <p:cNvSpPr txBox="1"/>
            <p:nvPr>
              <p:custDataLst>
                <p:tags r:id="rId5"/>
              </p:custDataLst>
            </p:nvPr>
          </p:nvSpPr>
          <p:spPr>
            <a:xfrm>
              <a:off x="5104729" y="2671657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{</a:t>
              </a: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标题</a:t>
              </a: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2}</a:t>
              </a:r>
              <a:endParaRPr kumimoji="0" lang="en-US" altLang="zh-CN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箭头: 五边形 53"/>
            <p:cNvSpPr/>
            <p:nvPr>
              <p:custDataLst>
                <p:tags r:id="rId6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800" b="1" u="none" strike="noStrike" kern="1200" cap="none" spc="0" normalizeH="0" baseline="0" noProof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4691236" y="4158302"/>
            <a:ext cx="5842718" cy="553998"/>
            <a:chOff x="4230011" y="2678656"/>
            <a:chExt cx="5842718" cy="553998"/>
          </a:xfrm>
        </p:grpSpPr>
        <p:sp>
          <p:nvSpPr>
            <p:cNvPr id="3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5104729" y="2678656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{</a:t>
              </a: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标题</a:t>
              </a: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3}</a:t>
              </a:r>
              <a:endParaRPr kumimoji="0" lang="en-US" altLang="zh-CN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箭头: 五边形 53"/>
            <p:cNvSpPr/>
            <p:nvPr>
              <p:custDataLst>
                <p:tags r:id="rId9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cs typeface="+mn-ea"/>
                <a:sym typeface="+mn-lt"/>
              </a:rPr>
              <a:t>1. </a:t>
            </a:r>
            <a:r>
              <a:rPr lang="zh-CN" altLang="en-US" sz="2800" dirty="0">
                <a:cs typeface="+mn-ea"/>
                <a:sym typeface="+mn-lt"/>
              </a:rPr>
              <a:t>组合业绩表现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74713" y="926712"/>
            <a:ext cx="10442575" cy="583565"/>
            <a:chOff x="2142379" y="1148135"/>
            <a:chExt cx="3816355" cy="583565"/>
          </a:xfrm>
        </p:grpSpPr>
        <p:sp>
          <p:nvSpPr>
            <p:cNvPr id="47" name="矩形: 圆角 46"/>
            <p:cNvSpPr/>
            <p:nvPr/>
          </p:nvSpPr>
          <p:spPr>
            <a:xfrm>
              <a:off x="2142379" y="1148135"/>
              <a:ext cx="3816355" cy="375860"/>
            </a:xfrm>
            <a:prstGeom prst="roundRect">
              <a:avLst>
                <a:gd name="adj" fmla="val 3577"/>
              </a:avLst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199546" y="1148135"/>
              <a:ext cx="3228511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chemeClr val="accent2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组合名称</a:t>
              </a:r>
              <a:r>
                <a:rPr lang="en-US" altLang="zh-CN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 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成立于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成立日期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，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截至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报告日期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endParaRPr lang="zh-CN" altLang="en-US" sz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68644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本年收益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资产规模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b="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本年收益</a:t>
                      </a:r>
                      <a:r>
                        <a:rPr lang="zh-CN" altLang="en-US" sz="1600" b="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zh-CN" altLang="en-US" sz="1600" b="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资产规模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本年收益金额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38331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收益率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平均年化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累计收益率</a:t>
                      </a:r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}</a:t>
                      </a:r>
                      <a:endParaRPr lang="en-US" altLang="zh-CN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平均年化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累计收益金额</a:t>
                      </a:r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}</a:t>
                      </a:r>
                      <a:endParaRPr lang="en-US" altLang="zh-CN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69315" y="2537460"/>
            <a:ext cx="5179060" cy="356298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{@</a:t>
            </a:r>
            <a:r>
              <a:rPr lang="zh-CN" altLang="en-US"/>
              <a:t>图</a:t>
            </a:r>
            <a:r>
              <a:rPr lang="en-US" altLang="zh-CN"/>
              <a:t>:</a:t>
            </a:r>
            <a:r>
              <a:rPr lang="zh-CN" altLang="en-US"/>
              <a:t>当年收益率走势图</a:t>
            </a:r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138545" y="2537460"/>
            <a:ext cx="5179060" cy="35629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{@</a:t>
            </a:r>
            <a:r>
              <a:rPr lang="zh-CN" altLang="en-US">
                <a:sym typeface="+mn-ea"/>
              </a:rPr>
              <a:t>图</a:t>
            </a:r>
            <a:r>
              <a:rPr lang="en-US" altLang="zh-CN">
                <a:sym typeface="+mn-ea"/>
              </a:rPr>
              <a:t>:</a:t>
            </a:r>
            <a:r>
              <a:rPr lang="zh-CN" altLang="en-US">
                <a:sym typeface="+mn-ea"/>
              </a:rPr>
              <a:t>组合成立以来收益率走势</a:t>
            </a:r>
            <a:r>
              <a:rPr lang="en-US" altLang="zh-CN"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2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3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4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7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10.xml><?xml version="1.0" encoding="utf-8"?>
<p:tagLst xmlns:p="http://schemas.openxmlformats.org/presentationml/2006/main">
  <p:tag name="ISLIDE.GUIDESSETTING" val="{&quot;Id&quot;:&quot;85622506-f8ef-42c3-a78e-f80061dfd6a8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57</Paragraphs>
  <Slides>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思源黑体 CN Regular</vt:lpstr>
      <vt:lpstr>楷体_GB2312</vt:lpstr>
      <vt:lpstr>Source Han Sans CN</vt:lpstr>
      <vt:lpstr>汉仪楷体简</vt:lpstr>
      <vt:lpstr>思源宋体 CN Heavy</vt:lpstr>
      <vt:lpstr>汉仪书宋二KW</vt:lpstr>
      <vt:lpstr>等线</vt:lpstr>
      <vt:lpstr>Calibri</vt:lpstr>
      <vt:lpstr>方正小标宋简体</vt:lpstr>
      <vt:lpstr>宋体</vt:lpstr>
      <vt:lpstr>Arial Unicode MS</vt:lpstr>
      <vt:lpstr>苹方-简</vt:lpstr>
      <vt:lpstr>汉仪中等线KW</vt:lpstr>
      <vt:lpstr>Helvetica Neue</vt:lpstr>
      <vt:lpstr>微软雅黑</vt:lpstr>
      <vt:lpstr>楷体_GB2312</vt:lpstr>
      <vt:lpstr>等线</vt:lpstr>
      <vt:lpstr>Office 主题​​</vt:lpstr>
      <vt:lpstr>2_Office 主题​​</vt:lpstr>
      <vt:lpstr>PowerPoint 演示文稿</vt:lpstr>
      <vt:lpstr>PowerPoint 演示文稿</vt:lpstr>
      <vt:lpstr>1. 组合业绩表现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gyrx-lipw</dc:creator>
  <cp:lastModifiedBy>李翰林</cp:lastModifiedBy>
  <cp:revision>919</cp:revision>
  <cp:lastPrinted>2025-11-02T14:11:26Z</cp:lastPrinted>
  <dcterms:created xsi:type="dcterms:W3CDTF">2025-11-02T14:11:26Z</dcterms:created>
  <dcterms:modified xsi:type="dcterms:W3CDTF">2025-11-02T14:11:26Z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12FD8015D7412104CAE60669C65385C0_43</vt:lpwstr>
  </property>
</Properties>
</file>